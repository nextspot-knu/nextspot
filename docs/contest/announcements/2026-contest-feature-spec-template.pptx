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9" r:id="rId2"/>
    <p:sldId id="258" r:id="rId3"/>
    <p:sldId id="267" r:id="rId4"/>
    <p:sldId id="268" r:id="rId5"/>
    <p:sldId id="263" r:id="rId6"/>
    <p:sldId id="260" r:id="rId7"/>
    <p:sldId id="264" r:id="rId8"/>
    <p:sldId id="265" r:id="rId9"/>
    <p:sldId id="266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6F00"/>
    <a:srgbClr val="FFA401"/>
    <a:srgbClr val="FFFDE7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936" y="3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3549DB-4EF3-40B0-A785-8572249070D6}" type="datetimeFigureOut">
              <a:rPr lang="ko-KR" altLang="en-US" smtClean="0"/>
              <a:t>2026-07-29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4097B3-0D7D-4E86-933F-EBF9BA5F97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2172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10554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서비스 소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2232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지역 특화 서비스 구현 세부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40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9986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서비스 핵심 기능별 흐름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3438" y="18574"/>
            <a:ext cx="12165123" cy="6839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66490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데이터 활용(한국관광공사 OpenAPI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12" y="13811"/>
            <a:ext cx="12184175" cy="6830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22898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데이터 활용(기타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675" y="9047"/>
            <a:ext cx="12174649" cy="6839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8338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서비스 차별성&amp;발전계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12" y="4284"/>
            <a:ext cx="12184175" cy="6849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2493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8FB6A-844E-4645-B6B8-D2945F9927BB}" type="datetimeFigureOut">
              <a:rPr lang="ko-KR" altLang="en-US" smtClean="0"/>
              <a:t>2026-07-29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32701-68F9-4777-ABB9-C14E97591467}" type="slidenum">
              <a:rPr lang="ko-KR" altLang="en-US" smtClean="0"/>
              <a:t>‹#›</a:t>
            </a:fld>
            <a:endParaRPr lang="ko-KR" altLang="en-US"/>
          </a:p>
        </p:txBody>
      </p:sp>
      <p:grpSp>
        <p:nvGrpSpPr>
          <p:cNvPr id="14" name="그룹 13"/>
          <p:cNvGrpSpPr/>
          <p:nvPr userDrawn="1"/>
        </p:nvGrpSpPr>
        <p:grpSpPr>
          <a:xfrm>
            <a:off x="189807" y="256797"/>
            <a:ext cx="11812386" cy="580915"/>
            <a:chOff x="189807" y="256797"/>
            <a:chExt cx="11812386" cy="580915"/>
          </a:xfrm>
        </p:grpSpPr>
        <p:grpSp>
          <p:nvGrpSpPr>
            <p:cNvPr id="10" name="그룹 9"/>
            <p:cNvGrpSpPr/>
            <p:nvPr/>
          </p:nvGrpSpPr>
          <p:grpSpPr>
            <a:xfrm>
              <a:off x="8161715" y="256797"/>
              <a:ext cx="3840478" cy="340519"/>
              <a:chOff x="6733312" y="182882"/>
              <a:chExt cx="3840478" cy="340519"/>
            </a:xfrm>
          </p:grpSpPr>
          <p:sp>
            <p:nvSpPr>
              <p:cNvPr id="12" name="TextBox 11"/>
              <p:cNvSpPr txBox="1"/>
              <p:nvPr/>
            </p:nvSpPr>
            <p:spPr>
              <a:xfrm>
                <a:off x="6733312" y="182882"/>
                <a:ext cx="2419001" cy="340519"/>
              </a:xfrm>
              <a:prstGeom prst="roundRect">
                <a:avLst/>
              </a:prstGeom>
              <a:solidFill>
                <a:srgbClr val="FF6F00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 dirty="0" smtClean="0">
                    <a:solidFill>
                      <a:schemeClr val="bg1"/>
                    </a:solidFill>
                    <a:latin typeface="Noto Sans KR Medium" panose="020B0600000000000000" pitchFamily="34" charset="-127"/>
                    <a:ea typeface="Noto Sans KR Medium" panose="020B0600000000000000" pitchFamily="34" charset="-127"/>
                  </a:rPr>
                  <a:t>2026 </a:t>
                </a:r>
                <a:r>
                  <a:rPr lang="ko-KR" altLang="en-US" sz="1400" dirty="0" smtClean="0">
                    <a:solidFill>
                      <a:schemeClr val="bg1"/>
                    </a:solidFill>
                    <a:latin typeface="Noto Sans KR Medium" panose="020B0600000000000000" pitchFamily="34" charset="-127"/>
                    <a:ea typeface="Noto Sans KR Medium" panose="020B0600000000000000" pitchFamily="34" charset="-127"/>
                  </a:rPr>
                  <a:t>관광데이터 활용 공모전</a:t>
                </a:r>
                <a:endParaRPr lang="ko-KR" altLang="en-US" sz="1400" dirty="0">
                  <a:solidFill>
                    <a:schemeClr val="bg1"/>
                  </a:solidFill>
                  <a:latin typeface="Noto Sans KR Medium" panose="020B0600000000000000" pitchFamily="34" charset="-127"/>
                  <a:ea typeface="Noto Sans KR Medium" panose="020B0600000000000000" pitchFamily="34" charset="-127"/>
                </a:endParaRPr>
              </a:p>
            </p:txBody>
          </p:sp>
          <p:sp>
            <p:nvSpPr>
              <p:cNvPr id="13" name="TextBox 12"/>
              <p:cNvSpPr txBox="1"/>
              <p:nvPr/>
            </p:nvSpPr>
            <p:spPr>
              <a:xfrm>
                <a:off x="9246526" y="182882"/>
                <a:ext cx="1327264" cy="340519"/>
              </a:xfrm>
              <a:prstGeom prst="roundRect">
                <a:avLst/>
              </a:prstGeom>
              <a:solidFill>
                <a:srgbClr val="FFFDE7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400" dirty="0" smtClean="0">
                    <a:latin typeface="Noto Sans KR Medium" panose="020B0600000000000000" pitchFamily="34" charset="-127"/>
                    <a:ea typeface="Noto Sans KR Medium" panose="020B0600000000000000" pitchFamily="34" charset="-127"/>
                  </a:rPr>
                  <a:t>웹〮앱 개발 부문</a:t>
                </a:r>
                <a:endParaRPr lang="ko-KR" altLang="en-US" sz="1400" dirty="0">
                  <a:latin typeface="Noto Sans KR Medium" panose="020B0600000000000000" pitchFamily="34" charset="-127"/>
                  <a:ea typeface="Noto Sans KR Medium" panose="020B0600000000000000" pitchFamily="34" charset="-127"/>
                </a:endParaRPr>
              </a:p>
            </p:txBody>
          </p:sp>
        </p:grpSp>
        <p:sp>
          <p:nvSpPr>
            <p:cNvPr id="11" name="직사각형 10"/>
            <p:cNvSpPr/>
            <p:nvPr/>
          </p:nvSpPr>
          <p:spPr>
            <a:xfrm>
              <a:off x="189807" y="791993"/>
              <a:ext cx="11812386" cy="45719"/>
            </a:xfrm>
            <a:prstGeom prst="rect">
              <a:avLst/>
            </a:prstGeom>
            <a:solidFill>
              <a:srgbClr val="FF6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3939448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38FB6A-844E-4645-B6B8-D2945F9927BB}" type="datetimeFigureOut">
              <a:rPr lang="ko-KR" altLang="en-US" smtClean="0"/>
              <a:t>2026-07-29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832701-68F9-4777-ABB9-C14E975914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7332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002065"/>
              </p:ext>
            </p:extLst>
          </p:nvPr>
        </p:nvGraphicFramePr>
        <p:xfrm>
          <a:off x="527397" y="4563687"/>
          <a:ext cx="6712988" cy="11122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1569">
                  <a:extLst>
                    <a:ext uri="{9D8B030D-6E8A-4147-A177-3AD203B41FA5}">
                      <a16:colId xmlns:a16="http://schemas.microsoft.com/office/drawing/2014/main" val="2581860913"/>
                    </a:ext>
                  </a:extLst>
                </a:gridCol>
                <a:gridCol w="4821419">
                  <a:extLst>
                    <a:ext uri="{9D8B030D-6E8A-4147-A177-3AD203B41FA5}">
                      <a16:colId xmlns:a16="http://schemas.microsoft.com/office/drawing/2014/main" val="1059508984"/>
                    </a:ext>
                  </a:extLst>
                </a:gridCol>
              </a:tblGrid>
              <a:tr h="5477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1" dirty="0" smtClean="0">
                          <a:solidFill>
                            <a:schemeClr val="bg1"/>
                          </a:solidFill>
                        </a:rPr>
                        <a:t>팀 명</a:t>
                      </a:r>
                      <a:endParaRPr lang="ko-KR" alt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2559057"/>
                  </a:ext>
                </a:extLst>
              </a:tr>
              <a:tr h="56441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1" dirty="0" smtClean="0">
                          <a:solidFill>
                            <a:schemeClr val="bg1"/>
                          </a:solidFill>
                        </a:rPr>
                        <a:t>서비스</a:t>
                      </a:r>
                      <a:r>
                        <a:rPr lang="ko-KR" altLang="en-US" sz="2400" b="1" baseline="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ko-KR" altLang="en-US" sz="2400" b="1" dirty="0" smtClean="0">
                          <a:solidFill>
                            <a:schemeClr val="bg1"/>
                          </a:solidFill>
                        </a:rPr>
                        <a:t>명</a:t>
                      </a:r>
                      <a:endParaRPr lang="ko-KR" alt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11698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3449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표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1695012"/>
              </p:ext>
            </p:extLst>
          </p:nvPr>
        </p:nvGraphicFramePr>
        <p:xfrm>
          <a:off x="287250" y="1218429"/>
          <a:ext cx="11649825" cy="47501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5222">
                  <a:extLst>
                    <a:ext uri="{9D8B030D-6E8A-4147-A177-3AD203B41FA5}">
                      <a16:colId xmlns:a16="http://schemas.microsoft.com/office/drawing/2014/main" val="1299753452"/>
                    </a:ext>
                  </a:extLst>
                </a:gridCol>
                <a:gridCol w="9694603">
                  <a:extLst>
                    <a:ext uri="{9D8B030D-6E8A-4147-A177-3AD203B41FA5}">
                      <a16:colId xmlns:a16="http://schemas.microsoft.com/office/drawing/2014/main" val="3999346814"/>
                    </a:ext>
                  </a:extLst>
                </a:gridCol>
              </a:tblGrid>
              <a:tr h="54721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서비스명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800" b="0" baseline="0" dirty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409156"/>
                  </a:ext>
                </a:extLst>
              </a:tr>
              <a:tr h="7310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서비스 유형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800" b="0" dirty="0" smtClean="0">
                          <a:solidFill>
                            <a:srgbClr val="FF0000"/>
                          </a:solidFill>
                          <a:latin typeface="+mn-lt"/>
                        </a:rPr>
                        <a:t>※ </a:t>
                      </a:r>
                      <a:r>
                        <a:rPr lang="ko-KR" altLang="en-US" sz="1800" b="0" dirty="0" smtClean="0">
                          <a:solidFill>
                            <a:srgbClr val="FF0000"/>
                          </a:solidFill>
                          <a:latin typeface="+mn-lt"/>
                        </a:rPr>
                        <a:t>본 가이드 문구 삭제 후 내용 작성</a:t>
                      </a:r>
                      <a:endParaRPr lang="en-US" altLang="ko-KR" sz="1800" b="0" dirty="0" smtClean="0">
                        <a:solidFill>
                          <a:srgbClr val="FF0000"/>
                        </a:solidFill>
                        <a:latin typeface="+mn-lt"/>
                      </a:endParaRPr>
                    </a:p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웹 서비스</a:t>
                      </a:r>
                      <a:r>
                        <a:rPr lang="en-US" altLang="ko-KR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, </a:t>
                      </a:r>
                      <a:r>
                        <a:rPr lang="ko-KR" altLang="en-US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앱 서비스</a:t>
                      </a:r>
                      <a:r>
                        <a:rPr lang="en-US" altLang="ko-KR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, SW </a:t>
                      </a:r>
                      <a:r>
                        <a:rPr lang="ko-KR" altLang="en-US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중 선택하여 작성</a:t>
                      </a:r>
                      <a:endParaRPr lang="en-US" altLang="ko-KR" sz="1800" b="0" baseline="0" dirty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6837495"/>
                  </a:ext>
                </a:extLst>
              </a:tr>
              <a:tr h="103024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서비스 개요</a:t>
                      </a:r>
                      <a:endParaRPr lang="en-US" altLang="ko-KR" b="1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 smtClean="0">
                          <a:solidFill>
                            <a:srgbClr val="FF0000"/>
                          </a:solidFill>
                          <a:latin typeface="+mn-lt"/>
                        </a:rPr>
                        <a:t>※ </a:t>
                      </a:r>
                      <a:r>
                        <a:rPr lang="ko-KR" altLang="en-US" sz="1800" dirty="0" smtClean="0">
                          <a:solidFill>
                            <a:srgbClr val="FF0000"/>
                          </a:solidFill>
                          <a:latin typeface="+mn-lt"/>
                        </a:rPr>
                        <a:t>본 가이드 문구 삭제 후 내용 작성</a:t>
                      </a:r>
                    </a:p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dirty="0" smtClean="0">
                          <a:latin typeface="+mn-lt"/>
                        </a:rPr>
                        <a:t>서비스에 대해 </a:t>
                      </a:r>
                      <a:r>
                        <a:rPr lang="en-US" altLang="ko-KR" sz="1800" dirty="0" smtClean="0">
                          <a:latin typeface="+mn-lt"/>
                        </a:rPr>
                        <a:t>1</a:t>
                      </a:r>
                      <a:r>
                        <a:rPr lang="ko-KR" altLang="en-US" sz="1800" dirty="0" smtClean="0">
                          <a:latin typeface="+mn-lt"/>
                        </a:rPr>
                        <a:t>문장으로 요약하여 작성</a:t>
                      </a:r>
                    </a:p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800" dirty="0" smtClean="0">
                          <a:latin typeface="+mn-lt"/>
                        </a:rPr>
                        <a:t>(</a:t>
                      </a:r>
                      <a:r>
                        <a:rPr lang="ko-KR" altLang="en-US" sz="1800" dirty="0" smtClean="0">
                          <a:latin typeface="+mn-lt"/>
                        </a:rPr>
                        <a:t>작성 예시</a:t>
                      </a:r>
                      <a:r>
                        <a:rPr lang="en-US" altLang="ko-KR" sz="1800" dirty="0" smtClean="0">
                          <a:latin typeface="+mn-lt"/>
                        </a:rPr>
                        <a:t>) </a:t>
                      </a:r>
                      <a:r>
                        <a:rPr lang="ko-KR" altLang="en-US" sz="1800" dirty="0" smtClean="0">
                          <a:latin typeface="+mn-lt"/>
                        </a:rPr>
                        <a:t>맞춤 여행코스 추천 서비스</a:t>
                      </a:r>
                      <a:r>
                        <a:rPr lang="en-US" altLang="ko-KR" sz="1800" dirty="0" smtClean="0">
                          <a:latin typeface="+mn-lt"/>
                        </a:rPr>
                        <a:t>, </a:t>
                      </a:r>
                      <a:r>
                        <a:rPr lang="ko-KR" altLang="en-US" sz="1800" dirty="0" smtClean="0">
                          <a:latin typeface="+mn-lt"/>
                        </a:rPr>
                        <a:t>지하철 노선을 따라 관광지</a:t>
                      </a:r>
                      <a:r>
                        <a:rPr lang="ko-KR" altLang="en-US" sz="1800" baseline="0" dirty="0" smtClean="0">
                          <a:latin typeface="+mn-lt"/>
                        </a:rPr>
                        <a:t> 정보를 제공하는</a:t>
                      </a:r>
                      <a:r>
                        <a:rPr lang="ko-KR" altLang="en-US" sz="1800" dirty="0" smtClean="0">
                          <a:latin typeface="+mn-lt"/>
                        </a:rPr>
                        <a:t> 서비스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4568051"/>
                  </a:ext>
                </a:extLst>
              </a:tr>
              <a:tr h="244159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주제 선정 이유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 smtClean="0">
                          <a:solidFill>
                            <a:srgbClr val="FF0000"/>
                          </a:solidFill>
                          <a:latin typeface="+mn-lt"/>
                        </a:rPr>
                        <a:t>※ </a:t>
                      </a:r>
                      <a:r>
                        <a:rPr lang="ko-KR" altLang="en-US" sz="1800" b="0" dirty="0" smtClean="0">
                          <a:solidFill>
                            <a:srgbClr val="FF0000"/>
                          </a:solidFill>
                          <a:latin typeface="+mn-lt"/>
                        </a:rPr>
                        <a:t>본 가이드 문구 삭제 후 내용 작성</a:t>
                      </a:r>
                    </a:p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주제 선정 이유</a:t>
                      </a:r>
                      <a:r>
                        <a:rPr lang="en-US" altLang="ko-KR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(</a:t>
                      </a:r>
                      <a:r>
                        <a:rPr lang="ko-KR" altLang="en-US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문제 해결</a:t>
                      </a:r>
                      <a:r>
                        <a:rPr lang="en-US" altLang="ko-KR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, </a:t>
                      </a:r>
                      <a:r>
                        <a:rPr lang="ko-KR" altLang="en-US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필요성 인식 등</a:t>
                      </a:r>
                      <a:r>
                        <a:rPr lang="en-US" altLang="ko-KR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)</a:t>
                      </a:r>
                      <a:r>
                        <a:rPr lang="ko-KR" altLang="en-US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에 대해 간략하게 작성</a:t>
                      </a:r>
                      <a:endParaRPr lang="ko-KR" altLang="en-US" sz="1800" b="0" dirty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4121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6000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표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0646751"/>
              </p:ext>
            </p:extLst>
          </p:nvPr>
        </p:nvGraphicFramePr>
        <p:xfrm>
          <a:off x="287250" y="1218429"/>
          <a:ext cx="11649826" cy="47334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5222">
                  <a:extLst>
                    <a:ext uri="{9D8B030D-6E8A-4147-A177-3AD203B41FA5}">
                      <a16:colId xmlns:a16="http://schemas.microsoft.com/office/drawing/2014/main" val="1299753452"/>
                    </a:ext>
                  </a:extLst>
                </a:gridCol>
                <a:gridCol w="9694604">
                  <a:extLst>
                    <a:ext uri="{9D8B030D-6E8A-4147-A177-3AD203B41FA5}">
                      <a16:colId xmlns:a16="http://schemas.microsoft.com/office/drawing/2014/main" val="3999346814"/>
                    </a:ext>
                  </a:extLst>
                </a:gridCol>
              </a:tblGrid>
              <a:tr h="473348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서비스 핵심기능</a:t>
                      </a:r>
                    </a:p>
                    <a:p>
                      <a:pPr algn="ctr" latinLnBrk="1"/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 smtClean="0">
                          <a:solidFill>
                            <a:srgbClr val="FF0000"/>
                          </a:solidFill>
                          <a:latin typeface="+mn-lt"/>
                        </a:rPr>
                        <a:t>※ </a:t>
                      </a:r>
                      <a:r>
                        <a:rPr lang="ko-KR" altLang="en-US" sz="1800" b="0" dirty="0" smtClean="0">
                          <a:solidFill>
                            <a:srgbClr val="FF0000"/>
                          </a:solidFill>
                          <a:latin typeface="+mn-lt"/>
                        </a:rPr>
                        <a:t>본 가이드 문구 삭제 후 내용 작성</a:t>
                      </a:r>
                    </a:p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서비스 핵심 기능에 대해 </a:t>
                      </a:r>
                      <a:r>
                        <a:rPr lang="ko-KR" altLang="en-US" sz="1800" b="0" dirty="0" err="1" smtClean="0">
                          <a:solidFill>
                            <a:schemeClr val="tx1"/>
                          </a:solidFill>
                          <a:latin typeface="+mn-lt"/>
                        </a:rPr>
                        <a:t>목록형으로</a:t>
                      </a:r>
                      <a:r>
                        <a:rPr lang="ko-KR" altLang="en-US" sz="1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 작성</a:t>
                      </a:r>
                      <a:endParaRPr lang="en-US" altLang="ko-KR" sz="1800" b="0" dirty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(</a:t>
                      </a:r>
                      <a:r>
                        <a:rPr lang="ko-KR" altLang="en-US" sz="1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작성 예시</a:t>
                      </a:r>
                      <a:r>
                        <a:rPr lang="en-US" altLang="ko-KR" sz="1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) </a:t>
                      </a:r>
                    </a:p>
                    <a:p>
                      <a:pPr marL="285750" marR="0" lvl="0" indent="-28575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위치 기반 관광지 정보 제공 기능</a:t>
                      </a:r>
                      <a:endParaRPr lang="en-US" altLang="ko-KR" sz="1800" b="0" dirty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  <a:p>
                      <a:pPr marL="285750" marR="0" lvl="0" indent="-28575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개인 취향 맞춤 여행 코스 추천 기능 등</a:t>
                      </a:r>
                      <a:endParaRPr lang="en-US" altLang="ko-KR" sz="1800" b="0" dirty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800" b="0" dirty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* </a:t>
                      </a:r>
                      <a:r>
                        <a:rPr lang="ko-KR" altLang="en-US" sz="1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주요 핵심 기능에 대한 상세 설명은 </a:t>
                      </a:r>
                      <a:r>
                        <a:rPr lang="en-US" altLang="ko-KR" sz="1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[</a:t>
                      </a:r>
                      <a:r>
                        <a:rPr lang="ko-KR" altLang="en-US" sz="1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서비스 핵심 기능별 흐름도</a:t>
                      </a:r>
                      <a:r>
                        <a:rPr lang="en-US" altLang="ko-KR" sz="1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] </a:t>
                      </a:r>
                      <a:r>
                        <a:rPr lang="ko-KR" altLang="en-US" sz="1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슬라이드에 작성</a:t>
                      </a:r>
                      <a:endParaRPr lang="en-US" altLang="ko-KR" sz="1800" b="0" dirty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4091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8688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표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7559681"/>
              </p:ext>
            </p:extLst>
          </p:nvPr>
        </p:nvGraphicFramePr>
        <p:xfrm>
          <a:off x="287250" y="1218429"/>
          <a:ext cx="11649826" cy="49911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5222">
                  <a:extLst>
                    <a:ext uri="{9D8B030D-6E8A-4147-A177-3AD203B41FA5}">
                      <a16:colId xmlns:a16="http://schemas.microsoft.com/office/drawing/2014/main" val="1299753452"/>
                    </a:ext>
                  </a:extLst>
                </a:gridCol>
                <a:gridCol w="9694604">
                  <a:extLst>
                    <a:ext uri="{9D8B030D-6E8A-4147-A177-3AD203B41FA5}">
                      <a16:colId xmlns:a16="http://schemas.microsoft.com/office/drawing/2014/main" val="3999346814"/>
                    </a:ext>
                  </a:extLst>
                </a:gridCol>
              </a:tblGrid>
              <a:tr h="184769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서비스</a:t>
                      </a:r>
                      <a:endParaRPr lang="en-US" altLang="ko-KR" b="1" dirty="0" smtClean="0">
                        <a:solidFill>
                          <a:schemeClr val="bg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대표 이미지</a:t>
                      </a:r>
                      <a:endParaRPr lang="en-US" altLang="ko-KR" b="1" dirty="0" smtClean="0">
                        <a:solidFill>
                          <a:schemeClr val="bg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b="1" dirty="0" smtClean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ko-KR" altLang="en-US" b="1" dirty="0" err="1" smtClean="0">
                          <a:solidFill>
                            <a:schemeClr val="bg1"/>
                          </a:solidFill>
                        </a:rPr>
                        <a:t>썸네일</a:t>
                      </a:r>
                      <a:r>
                        <a:rPr lang="en-US" altLang="ko-KR" b="1" dirty="0" smtClean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 smtClean="0">
                          <a:solidFill>
                            <a:srgbClr val="FF0000"/>
                          </a:solidFill>
                          <a:latin typeface="+mn-lt"/>
                        </a:rPr>
                        <a:t>※ </a:t>
                      </a:r>
                      <a:r>
                        <a:rPr lang="ko-KR" altLang="en-US" sz="1800" b="0" dirty="0" smtClean="0">
                          <a:solidFill>
                            <a:srgbClr val="FF0000"/>
                          </a:solidFill>
                          <a:latin typeface="+mn-lt"/>
                        </a:rPr>
                        <a:t>본 가이드 문구 삭제 후 이미지 첨부</a:t>
                      </a:r>
                      <a:endParaRPr lang="en-US" altLang="ko-KR" sz="1800" b="0" dirty="0" smtClean="0">
                        <a:solidFill>
                          <a:srgbClr val="FF0000"/>
                        </a:solidFill>
                        <a:latin typeface="+mn-lt"/>
                      </a:endParaRP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웹</a:t>
                      </a:r>
                      <a:r>
                        <a:rPr lang="en-US" altLang="ko-KR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/</a:t>
                      </a:r>
                      <a:r>
                        <a:rPr lang="ko-KR" altLang="en-US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앱 로고</a:t>
                      </a:r>
                      <a:r>
                        <a:rPr lang="en-US" altLang="ko-KR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ko-KR" altLang="en-US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또는 대표 이미지 </a:t>
                      </a:r>
                      <a:r>
                        <a:rPr lang="en-US" altLang="ko-KR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r>
                        <a:rPr lang="ko-KR" altLang="en-US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개 첨부</a:t>
                      </a:r>
                      <a:endParaRPr lang="ko-KR" altLang="en-US" sz="1800" b="0" dirty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409156"/>
                  </a:ext>
                </a:extLst>
              </a:tr>
              <a:tr h="314348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서비스</a:t>
                      </a:r>
                      <a:endParaRPr lang="en-US" altLang="ko-KR" b="1" dirty="0" smtClean="0">
                        <a:solidFill>
                          <a:schemeClr val="bg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상세 이미지</a:t>
                      </a:r>
                      <a:endParaRPr lang="en-US" altLang="ko-KR" b="1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 smtClean="0">
                          <a:solidFill>
                            <a:srgbClr val="FF0000"/>
                          </a:solidFill>
                          <a:latin typeface="+mn-lt"/>
                        </a:rPr>
                        <a:t>※ </a:t>
                      </a:r>
                      <a:r>
                        <a:rPr lang="ko-KR" altLang="en-US" sz="1800" b="0" dirty="0" smtClean="0">
                          <a:solidFill>
                            <a:srgbClr val="FF0000"/>
                          </a:solidFill>
                          <a:latin typeface="+mn-lt"/>
                        </a:rPr>
                        <a:t>본 가이드 문구 삭제 후 이미지 첨부</a:t>
                      </a:r>
                      <a:endParaRPr lang="en-US" altLang="ko-KR" sz="1800" b="0" dirty="0" smtClean="0">
                        <a:solidFill>
                          <a:srgbClr val="FF0000"/>
                        </a:solidFill>
                        <a:latin typeface="+mn-lt"/>
                      </a:endParaRP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서비스 주요 화면 이미지 </a:t>
                      </a:r>
                      <a:r>
                        <a:rPr lang="en-US" altLang="ko-KR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3~5</a:t>
                      </a:r>
                      <a:r>
                        <a:rPr lang="ko-KR" altLang="en-US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개 첨부</a:t>
                      </a:r>
                      <a:endParaRPr lang="ko-KR" altLang="en-US" sz="1800" b="0" dirty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4121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2969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52838"/>
              </p:ext>
            </p:extLst>
          </p:nvPr>
        </p:nvGraphicFramePr>
        <p:xfrm>
          <a:off x="287250" y="1218429"/>
          <a:ext cx="11649825" cy="50797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5222">
                  <a:extLst>
                    <a:ext uri="{9D8B030D-6E8A-4147-A177-3AD203B41FA5}">
                      <a16:colId xmlns:a16="http://schemas.microsoft.com/office/drawing/2014/main" val="1299753452"/>
                    </a:ext>
                  </a:extLst>
                </a:gridCol>
                <a:gridCol w="9694603">
                  <a:extLst>
                    <a:ext uri="{9D8B030D-6E8A-4147-A177-3AD203B41FA5}">
                      <a16:colId xmlns:a16="http://schemas.microsoft.com/office/drawing/2014/main" val="3999346814"/>
                    </a:ext>
                  </a:extLst>
                </a:gridCol>
              </a:tblGrid>
              <a:tr h="19444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특화 </a:t>
                      </a:r>
                      <a:r>
                        <a:rPr lang="ko-KR" altLang="en-US" b="1" dirty="0" err="1" smtClean="0">
                          <a:solidFill>
                            <a:schemeClr val="bg1"/>
                          </a:solidFill>
                        </a:rPr>
                        <a:t>지역명</a:t>
                      </a:r>
                      <a:endParaRPr lang="en-US" altLang="ko-KR" b="1" dirty="0" smtClean="0">
                        <a:solidFill>
                          <a:schemeClr val="bg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z="1600" b="1" dirty="0" smtClean="0">
                          <a:solidFill>
                            <a:schemeClr val="bg1"/>
                          </a:solidFill>
                        </a:rPr>
                        <a:t>* </a:t>
                      </a:r>
                      <a:r>
                        <a:rPr lang="ko-KR" altLang="en-US" sz="1600" b="1" dirty="0" smtClean="0">
                          <a:solidFill>
                            <a:schemeClr val="bg1"/>
                          </a:solidFill>
                        </a:rPr>
                        <a:t>서울 제외</a:t>
                      </a:r>
                      <a:endParaRPr lang="ko-KR" alt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800" b="0" dirty="0" smtClean="0">
                          <a:solidFill>
                            <a:srgbClr val="FF0000"/>
                          </a:solidFill>
                          <a:latin typeface="+mn-lt"/>
                        </a:rPr>
                        <a:t>※ </a:t>
                      </a:r>
                      <a:r>
                        <a:rPr lang="ko-KR" altLang="en-US" sz="1800" b="0" dirty="0" smtClean="0">
                          <a:solidFill>
                            <a:srgbClr val="FF0000"/>
                          </a:solidFill>
                          <a:latin typeface="+mn-lt"/>
                        </a:rPr>
                        <a:t>본 가이드 문구 삭제 후 내용 작성</a:t>
                      </a:r>
                      <a:endParaRPr lang="en-US" altLang="ko-KR" sz="1800" b="0" dirty="0" smtClean="0">
                        <a:solidFill>
                          <a:srgbClr val="FF0000"/>
                        </a:solidFill>
                        <a:latin typeface="+mn-lt"/>
                      </a:endParaRPr>
                    </a:p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전국 단위가 아닌 특정 지역</a:t>
                      </a:r>
                      <a:r>
                        <a:rPr lang="en-US" altLang="ko-KR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(</a:t>
                      </a:r>
                      <a:r>
                        <a:rPr lang="ko-KR" altLang="en-US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서울 제외</a:t>
                      </a:r>
                      <a:r>
                        <a:rPr lang="en-US" altLang="ko-KR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)</a:t>
                      </a:r>
                      <a:r>
                        <a:rPr lang="ko-KR" altLang="en-US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에 특화된 서비스를 의미</a:t>
                      </a:r>
                      <a:r>
                        <a:rPr lang="en-US" altLang="ko-KR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,</a:t>
                      </a:r>
                    </a:p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지역 특화에 대한 하단의 인정 기준을 참고하여 작성</a:t>
                      </a:r>
                      <a:r>
                        <a:rPr lang="en-US" altLang="ko-KR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, 1</a:t>
                      </a:r>
                      <a:r>
                        <a:rPr lang="ko-KR" altLang="en-US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개 광역자치단체 내 여러 기초지자체를 묶어 제안하는 것은 가능</a:t>
                      </a:r>
                      <a:r>
                        <a:rPr lang="en-US" altLang="ko-KR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(ex: </a:t>
                      </a:r>
                      <a:r>
                        <a:rPr lang="ko-KR" altLang="en-US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강원도 내 원주시</a:t>
                      </a:r>
                      <a:r>
                        <a:rPr lang="en-US" altLang="ko-KR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, </a:t>
                      </a:r>
                      <a:r>
                        <a:rPr lang="ko-KR" altLang="en-US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강릉시 연계 </a:t>
                      </a:r>
                      <a:r>
                        <a:rPr lang="en-US" altLang="ko-KR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&gt; </a:t>
                      </a:r>
                      <a:r>
                        <a:rPr lang="ko-KR" altLang="en-US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강원 특화 서비스</a:t>
                      </a:r>
                      <a:r>
                        <a:rPr lang="en-US" altLang="ko-KR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)</a:t>
                      </a:r>
                    </a:p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* </a:t>
                      </a:r>
                      <a:r>
                        <a:rPr lang="ko-KR" altLang="en-US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최대 범위</a:t>
                      </a:r>
                      <a:r>
                        <a:rPr lang="en-US" altLang="ko-KR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: </a:t>
                      </a:r>
                      <a:r>
                        <a:rPr lang="ko-KR" altLang="en-US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광역자치단체 단위</a:t>
                      </a:r>
                      <a:r>
                        <a:rPr lang="en-US" altLang="ko-KR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(</a:t>
                      </a:r>
                      <a:r>
                        <a:rPr lang="ko-KR" altLang="en-US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광역시</a:t>
                      </a:r>
                      <a:r>
                        <a:rPr lang="en-US" altLang="ko-KR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, </a:t>
                      </a:r>
                      <a:r>
                        <a:rPr lang="ko-KR" altLang="en-US" sz="1800" b="0" baseline="0" dirty="0" err="1" smtClean="0">
                          <a:solidFill>
                            <a:schemeClr val="tx1"/>
                          </a:solidFill>
                          <a:latin typeface="+mn-lt"/>
                        </a:rPr>
                        <a:t>통합특별시</a:t>
                      </a:r>
                      <a:r>
                        <a:rPr lang="en-US" altLang="ko-KR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, </a:t>
                      </a:r>
                      <a:r>
                        <a:rPr lang="ko-KR" altLang="en-US" sz="1800" b="0" baseline="0" dirty="0" err="1" smtClean="0">
                          <a:solidFill>
                            <a:schemeClr val="tx1"/>
                          </a:solidFill>
                          <a:latin typeface="+mn-lt"/>
                        </a:rPr>
                        <a:t>특별자치시</a:t>
                      </a:r>
                      <a:r>
                        <a:rPr lang="en-US" altLang="ko-KR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, </a:t>
                      </a:r>
                      <a:r>
                        <a:rPr lang="ko-KR" altLang="en-US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도</a:t>
                      </a:r>
                      <a:r>
                        <a:rPr lang="en-US" altLang="ko-KR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, </a:t>
                      </a:r>
                      <a:r>
                        <a:rPr lang="ko-KR" altLang="en-US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특별자치도</a:t>
                      </a:r>
                      <a:r>
                        <a:rPr lang="en-US" altLang="ko-KR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)</a:t>
                      </a:r>
                    </a:p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* </a:t>
                      </a:r>
                      <a:r>
                        <a:rPr lang="ko-KR" altLang="en-US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최소 범위</a:t>
                      </a:r>
                      <a:r>
                        <a:rPr lang="en-US" altLang="ko-KR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: </a:t>
                      </a:r>
                      <a:r>
                        <a:rPr lang="ko-KR" altLang="en-US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기초자치단체 단위</a:t>
                      </a:r>
                      <a:r>
                        <a:rPr lang="en-US" altLang="ko-KR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(</a:t>
                      </a:r>
                      <a:r>
                        <a:rPr lang="ko-KR" altLang="en-US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시</a:t>
                      </a:r>
                      <a:r>
                        <a:rPr lang="en-US" altLang="ko-KR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, </a:t>
                      </a:r>
                      <a:r>
                        <a:rPr lang="ko-KR" altLang="en-US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군</a:t>
                      </a:r>
                      <a:r>
                        <a:rPr lang="en-US" altLang="ko-KR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, </a:t>
                      </a:r>
                      <a:r>
                        <a:rPr lang="ko-KR" altLang="en-US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구</a:t>
                      </a:r>
                      <a:r>
                        <a:rPr lang="en-US" altLang="ko-KR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409156"/>
                  </a:ext>
                </a:extLst>
              </a:tr>
              <a:tr h="313533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구현 내용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800" b="0" dirty="0" smtClean="0">
                          <a:solidFill>
                            <a:srgbClr val="FF0000"/>
                          </a:solidFill>
                          <a:latin typeface="+mn-lt"/>
                        </a:rPr>
                        <a:t>※ </a:t>
                      </a:r>
                      <a:r>
                        <a:rPr lang="ko-KR" altLang="en-US" sz="1800" b="0" dirty="0" smtClean="0">
                          <a:solidFill>
                            <a:srgbClr val="FF0000"/>
                          </a:solidFill>
                          <a:latin typeface="+mn-lt"/>
                        </a:rPr>
                        <a:t>본 가이드 문구 삭제 후 내용 작성</a:t>
                      </a:r>
                      <a:endParaRPr lang="en-US" altLang="ko-KR" sz="1800" b="0" dirty="0" smtClean="0">
                        <a:solidFill>
                          <a:srgbClr val="FF0000"/>
                        </a:solidFill>
                        <a:latin typeface="+mn-lt"/>
                      </a:endParaRPr>
                    </a:p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선택한 지역에 대한 서비스 특화 내용 작성</a:t>
                      </a:r>
                      <a:endParaRPr lang="en-US" altLang="ko-KR" sz="1800" b="0" baseline="0" dirty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6837495"/>
                  </a:ext>
                </a:extLst>
              </a:tr>
            </a:tbl>
          </a:graphicData>
        </a:graphic>
      </p:graphicFrame>
      <p:sp>
        <p:nvSpPr>
          <p:cNvPr id="5" name="직사각형 4"/>
          <p:cNvSpPr/>
          <p:nvPr/>
        </p:nvSpPr>
        <p:spPr>
          <a:xfrm>
            <a:off x="174567" y="2402379"/>
            <a:ext cx="11853949" cy="2335876"/>
          </a:xfrm>
          <a:prstGeom prst="rect">
            <a:avLst/>
          </a:prstGeom>
          <a:solidFill>
            <a:schemeClr val="tx1">
              <a:alpha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[</a:t>
            </a:r>
            <a:r>
              <a:rPr lang="ko-KR" altLang="en-US" dirty="0" smtClean="0"/>
              <a:t>선택 작성 항목</a:t>
            </a:r>
            <a:r>
              <a:rPr lang="en-US" altLang="ko-KR" dirty="0" smtClean="0"/>
              <a:t>] </a:t>
            </a:r>
            <a:r>
              <a:rPr lang="ko-KR" altLang="en-US" dirty="0" smtClean="0"/>
              <a:t>지역 특화 서비스에 해당하는 경우 필수 작성</a:t>
            </a:r>
            <a:endParaRPr lang="en-US" altLang="ko-KR" dirty="0" smtClean="0"/>
          </a:p>
          <a:p>
            <a:pPr algn="ctr"/>
            <a:r>
              <a:rPr lang="en-US" altLang="ko-KR" dirty="0" smtClean="0"/>
              <a:t>/ </a:t>
            </a:r>
            <a:r>
              <a:rPr lang="ko-KR" altLang="en-US" dirty="0" smtClean="0"/>
              <a:t>해당사항 없는 경우</a:t>
            </a:r>
            <a:r>
              <a:rPr lang="en-US" altLang="ko-KR" dirty="0" smtClean="0"/>
              <a:t>, </a:t>
            </a:r>
            <a:r>
              <a:rPr lang="ko-KR" altLang="en-US" dirty="0" smtClean="0"/>
              <a:t>해당 슬라이드 삭제</a:t>
            </a:r>
            <a:endParaRPr lang="en-US" altLang="ko-KR" dirty="0" smtClean="0"/>
          </a:p>
          <a:p>
            <a:pPr algn="ctr"/>
            <a:endParaRPr lang="en-US" altLang="ko-KR" dirty="0"/>
          </a:p>
          <a:p>
            <a:pPr algn="ctr"/>
            <a:r>
              <a:rPr lang="en-US" altLang="ko-KR" dirty="0" smtClean="0">
                <a:solidFill>
                  <a:srgbClr val="FF0000"/>
                </a:solidFill>
              </a:rPr>
              <a:t>※ </a:t>
            </a:r>
            <a:r>
              <a:rPr lang="ko-KR" altLang="en-US" dirty="0" smtClean="0">
                <a:solidFill>
                  <a:srgbClr val="FF0000"/>
                </a:solidFill>
              </a:rPr>
              <a:t>내용 확인 후</a:t>
            </a:r>
            <a:r>
              <a:rPr lang="en-US" altLang="ko-KR" dirty="0" smtClean="0">
                <a:solidFill>
                  <a:srgbClr val="FF0000"/>
                </a:solidFill>
              </a:rPr>
              <a:t>, </a:t>
            </a:r>
            <a:r>
              <a:rPr lang="ko-KR" altLang="en-US" dirty="0" smtClean="0">
                <a:solidFill>
                  <a:srgbClr val="FF0000"/>
                </a:solidFill>
              </a:rPr>
              <a:t>본 가이드 박스는 삭제한 후 </a:t>
            </a:r>
            <a:r>
              <a:rPr lang="en-US" altLang="ko-KR" dirty="0" smtClean="0">
                <a:solidFill>
                  <a:srgbClr val="FF0000"/>
                </a:solidFill>
              </a:rPr>
              <a:t>PPT </a:t>
            </a:r>
            <a:r>
              <a:rPr lang="ko-KR" altLang="en-US" dirty="0" smtClean="0">
                <a:solidFill>
                  <a:srgbClr val="FF0000"/>
                </a:solidFill>
              </a:rPr>
              <a:t>작성</a:t>
            </a:r>
            <a:endParaRPr lang="en-US" altLang="ko-KR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252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7004574"/>
              </p:ext>
            </p:extLst>
          </p:nvPr>
        </p:nvGraphicFramePr>
        <p:xfrm>
          <a:off x="302952" y="1933326"/>
          <a:ext cx="11426308" cy="46058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6577">
                  <a:extLst>
                    <a:ext uri="{9D8B030D-6E8A-4147-A177-3AD203B41FA5}">
                      <a16:colId xmlns:a16="http://schemas.microsoft.com/office/drawing/2014/main" val="956832101"/>
                    </a:ext>
                  </a:extLst>
                </a:gridCol>
                <a:gridCol w="2856577">
                  <a:extLst>
                    <a:ext uri="{9D8B030D-6E8A-4147-A177-3AD203B41FA5}">
                      <a16:colId xmlns:a16="http://schemas.microsoft.com/office/drawing/2014/main" val="2325135401"/>
                    </a:ext>
                  </a:extLst>
                </a:gridCol>
                <a:gridCol w="2856577">
                  <a:extLst>
                    <a:ext uri="{9D8B030D-6E8A-4147-A177-3AD203B41FA5}">
                      <a16:colId xmlns:a16="http://schemas.microsoft.com/office/drawing/2014/main" val="1669866357"/>
                    </a:ext>
                  </a:extLst>
                </a:gridCol>
                <a:gridCol w="2856577">
                  <a:extLst>
                    <a:ext uri="{9D8B030D-6E8A-4147-A177-3AD203B41FA5}">
                      <a16:colId xmlns:a16="http://schemas.microsoft.com/office/drawing/2014/main" val="1337599892"/>
                    </a:ext>
                  </a:extLst>
                </a:gridCol>
              </a:tblGrid>
              <a:tr h="327145"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>
                          <a:solidFill>
                            <a:schemeClr val="bg1"/>
                          </a:solidFill>
                        </a:rPr>
                        <a:t>기능</a:t>
                      </a:r>
                      <a:r>
                        <a:rPr lang="ko-KR" altLang="en-US" baseline="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ko-KR" altLang="en-US" dirty="0" smtClean="0">
                          <a:solidFill>
                            <a:schemeClr val="bg1"/>
                          </a:solidFill>
                        </a:rPr>
                        <a:t>흐름도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2358826"/>
                  </a:ext>
                </a:extLst>
              </a:tr>
              <a:tr h="280620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 smtClean="0">
                          <a:solidFill>
                            <a:srgbClr val="FF0000"/>
                          </a:solidFill>
                          <a:latin typeface="+mn-lt"/>
                        </a:rPr>
                        <a:t>※ </a:t>
                      </a:r>
                      <a:r>
                        <a:rPr lang="ko-KR" altLang="en-US" sz="1800" b="0" dirty="0" smtClean="0">
                          <a:solidFill>
                            <a:srgbClr val="FF0000"/>
                          </a:solidFill>
                          <a:latin typeface="+mn-lt"/>
                        </a:rPr>
                        <a:t>본 가이드 문구 삭제 후 이미지 첨부</a:t>
                      </a:r>
                      <a:endParaRPr lang="en-US" altLang="ko-KR" sz="1800" b="0" dirty="0" smtClean="0">
                        <a:solidFill>
                          <a:srgbClr val="FF0000"/>
                        </a:solidFill>
                        <a:latin typeface="+mn-lt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b="0" dirty="0" smtClean="0">
                          <a:solidFill>
                            <a:schemeClr val="tx1"/>
                          </a:solidFill>
                        </a:rPr>
                        <a:t>서비스 캡쳐 화면 첨부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7600838"/>
                  </a:ext>
                </a:extLst>
              </a:tr>
              <a:tr h="1433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 smtClean="0">
                          <a:solidFill>
                            <a:srgbClr val="FF0000"/>
                          </a:solidFill>
                          <a:latin typeface="+mn-lt"/>
                        </a:rPr>
                        <a:t>※ </a:t>
                      </a:r>
                      <a:r>
                        <a:rPr lang="ko-KR" altLang="en-US" sz="1800" b="0" dirty="0" smtClean="0">
                          <a:solidFill>
                            <a:srgbClr val="FF0000"/>
                          </a:solidFill>
                          <a:latin typeface="+mn-lt"/>
                        </a:rPr>
                        <a:t>본 가이드 문구 삭제 후 내용 작성</a:t>
                      </a:r>
                      <a:endParaRPr lang="en-US" altLang="ko-KR" b="0" dirty="0" smtClean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b="0" dirty="0" smtClean="0">
                          <a:solidFill>
                            <a:schemeClr val="tx1"/>
                          </a:solidFill>
                        </a:rPr>
                        <a:t>ex)</a:t>
                      </a:r>
                      <a:r>
                        <a:rPr lang="en-US" altLang="ko-KR" b="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b="0" baseline="0" dirty="0" smtClean="0">
                          <a:solidFill>
                            <a:schemeClr val="tx1"/>
                          </a:solidFill>
                        </a:rPr>
                        <a:t>서비스 메인화면에서 </a:t>
                      </a:r>
                      <a:r>
                        <a:rPr lang="ko-KR" altLang="en-US" b="0" baseline="0" dirty="0" err="1" smtClean="0">
                          <a:solidFill>
                            <a:schemeClr val="tx1"/>
                          </a:solidFill>
                        </a:rPr>
                        <a:t>관광지명을</a:t>
                      </a:r>
                      <a:r>
                        <a:rPr lang="ko-KR" altLang="en-US" b="0" baseline="0" dirty="0" smtClean="0">
                          <a:solidFill>
                            <a:schemeClr val="tx1"/>
                          </a:solidFill>
                        </a:rPr>
                        <a:t> 입력한다</a:t>
                      </a:r>
                      <a:r>
                        <a:rPr lang="en-US" altLang="ko-KR" b="0" baseline="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3083417"/>
                  </a:ext>
                </a:extLst>
              </a:tr>
            </a:tbl>
          </a:graphicData>
        </a:graphic>
      </p:graphicFrame>
      <p:graphicFrame>
        <p:nvGraphicFramePr>
          <p:cNvPr id="15" name="표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4280268"/>
              </p:ext>
            </p:extLst>
          </p:nvPr>
        </p:nvGraphicFramePr>
        <p:xfrm>
          <a:off x="302952" y="1130530"/>
          <a:ext cx="11426308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2764">
                  <a:extLst>
                    <a:ext uri="{9D8B030D-6E8A-4147-A177-3AD203B41FA5}">
                      <a16:colId xmlns:a16="http://schemas.microsoft.com/office/drawing/2014/main" val="837638667"/>
                    </a:ext>
                  </a:extLst>
                </a:gridCol>
                <a:gridCol w="9643544">
                  <a:extLst>
                    <a:ext uri="{9D8B030D-6E8A-4147-A177-3AD203B41FA5}">
                      <a16:colId xmlns:a16="http://schemas.microsoft.com/office/drawing/2014/main" val="2364043552"/>
                    </a:ext>
                  </a:extLst>
                </a:gridCol>
              </a:tblGrid>
              <a:tr h="2369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핵심 기능</a:t>
                      </a:r>
                      <a:r>
                        <a:rPr lang="en-US" altLang="ko-KR" b="1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 smtClean="0">
                          <a:solidFill>
                            <a:srgbClr val="FF0000"/>
                          </a:solidFill>
                        </a:rPr>
                        <a:t>※</a:t>
                      </a:r>
                      <a:r>
                        <a:rPr lang="ko-KR" altLang="en-US" b="0" dirty="0" smtClean="0">
                          <a:solidFill>
                            <a:srgbClr val="FF0000"/>
                          </a:solidFill>
                        </a:rPr>
                        <a:t>본 가이드 문구 삭제 후 내용 작성 </a:t>
                      </a:r>
                      <a:r>
                        <a:rPr lang="en-US" altLang="ko-KR" b="0" dirty="0" smtClean="0">
                          <a:solidFill>
                            <a:schemeClr val="tx1"/>
                          </a:solidFill>
                        </a:rPr>
                        <a:t>ex) </a:t>
                      </a:r>
                      <a:r>
                        <a:rPr lang="ko-KR" altLang="en-US" b="0" dirty="0" smtClean="0">
                          <a:solidFill>
                            <a:schemeClr val="tx1"/>
                          </a:solidFill>
                        </a:rPr>
                        <a:t>개인 맞춤형 관광지 정보 제공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6143207"/>
                  </a:ext>
                </a:extLst>
              </a:tr>
              <a:tr h="2369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기능 설명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 smtClean="0">
                          <a:solidFill>
                            <a:srgbClr val="FF0000"/>
                          </a:solidFill>
                        </a:rPr>
                        <a:t>※</a:t>
                      </a:r>
                      <a:r>
                        <a:rPr lang="ko-KR" altLang="en-US" b="0" dirty="0" smtClean="0">
                          <a:solidFill>
                            <a:srgbClr val="FF0000"/>
                          </a:solidFill>
                        </a:rPr>
                        <a:t>본 가이드 문구 삭제 후 내용 작성 </a:t>
                      </a:r>
                      <a:r>
                        <a:rPr lang="en-US" altLang="ko-KR" b="0" dirty="0" smtClean="0">
                          <a:solidFill>
                            <a:schemeClr val="tx1"/>
                          </a:solidFill>
                        </a:rPr>
                        <a:t>ex)</a:t>
                      </a:r>
                      <a:r>
                        <a:rPr lang="ko-KR" altLang="en-US" b="0" baseline="0" dirty="0" smtClean="0">
                          <a:solidFill>
                            <a:schemeClr val="tx1"/>
                          </a:solidFill>
                        </a:rPr>
                        <a:t> 개인 취향에 맞는 관광정보를 제공하는 기능입니다</a:t>
                      </a:r>
                      <a:r>
                        <a:rPr lang="en-US" altLang="ko-KR" b="0" baseline="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682219"/>
                  </a:ext>
                </a:extLst>
              </a:tr>
            </a:tbl>
          </a:graphicData>
        </a:graphic>
      </p:graphicFrame>
      <p:sp>
        <p:nvSpPr>
          <p:cNvPr id="19" name="직사각형 18"/>
          <p:cNvSpPr/>
          <p:nvPr/>
        </p:nvSpPr>
        <p:spPr>
          <a:xfrm>
            <a:off x="174567" y="2402379"/>
            <a:ext cx="11853949" cy="2335876"/>
          </a:xfrm>
          <a:prstGeom prst="rect">
            <a:avLst/>
          </a:prstGeom>
          <a:solidFill>
            <a:schemeClr val="tx1">
              <a:alpha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서비스 핵심 기능 작성</a:t>
            </a:r>
            <a:r>
              <a:rPr lang="en-US" altLang="ko-KR" dirty="0" smtClean="0"/>
              <a:t>(</a:t>
            </a:r>
            <a:r>
              <a:rPr lang="ko-KR" altLang="en-US" dirty="0" smtClean="0"/>
              <a:t>최대 </a:t>
            </a:r>
            <a:r>
              <a:rPr lang="en-US" altLang="ko-KR" dirty="0" smtClean="0"/>
              <a:t>5</a:t>
            </a:r>
            <a:r>
              <a:rPr lang="ko-KR" altLang="en-US" dirty="0" smtClean="0"/>
              <a:t>개</a:t>
            </a:r>
            <a:r>
              <a:rPr lang="en-US" altLang="ko-KR" dirty="0" smtClean="0"/>
              <a:t>),</a:t>
            </a:r>
          </a:p>
          <a:p>
            <a:pPr algn="ctr"/>
            <a:r>
              <a:rPr lang="ko-KR" altLang="en-US" dirty="0" smtClean="0"/>
              <a:t>필요 시</a:t>
            </a:r>
            <a:r>
              <a:rPr lang="en-US" altLang="ko-KR" dirty="0" smtClean="0"/>
              <a:t> </a:t>
            </a:r>
            <a:r>
              <a:rPr lang="ko-KR" altLang="en-US" dirty="0" smtClean="0"/>
              <a:t>페이지 복사</a:t>
            </a:r>
            <a:r>
              <a:rPr lang="en-US" altLang="ko-KR" dirty="0" smtClean="0"/>
              <a:t>*</a:t>
            </a:r>
            <a:r>
              <a:rPr lang="ko-KR" altLang="en-US" dirty="0" smtClean="0"/>
              <a:t>하여 추가 작성</a:t>
            </a:r>
            <a:endParaRPr lang="en-US" altLang="ko-KR" dirty="0" smtClean="0"/>
          </a:p>
          <a:p>
            <a:pPr algn="ctr"/>
            <a:r>
              <a:rPr lang="en-US" altLang="ko-KR" dirty="0" smtClean="0"/>
              <a:t>* </a:t>
            </a:r>
            <a:r>
              <a:rPr lang="ko-KR" altLang="en-US" dirty="0" smtClean="0"/>
              <a:t>좌측 슬라이드 목록에서 복사할 슬라이드 선택 </a:t>
            </a:r>
            <a:r>
              <a:rPr lang="en-US" altLang="ko-KR" dirty="0" smtClean="0"/>
              <a:t>&gt; </a:t>
            </a:r>
            <a:r>
              <a:rPr lang="en-US" altLang="ko-KR" dirty="0" err="1" smtClean="0"/>
              <a:t>ctrl+D</a:t>
            </a:r>
            <a:endParaRPr lang="en-US" altLang="ko-KR" dirty="0" smtClean="0"/>
          </a:p>
          <a:p>
            <a:pPr algn="ctr"/>
            <a:endParaRPr lang="en-US" altLang="ko-KR" dirty="0" smtClean="0"/>
          </a:p>
          <a:p>
            <a:pPr algn="ctr"/>
            <a:r>
              <a:rPr lang="en-US" altLang="ko-KR" dirty="0">
                <a:solidFill>
                  <a:srgbClr val="FF0000"/>
                </a:solidFill>
              </a:rPr>
              <a:t>※ </a:t>
            </a:r>
            <a:r>
              <a:rPr lang="ko-KR" altLang="en-US" dirty="0">
                <a:solidFill>
                  <a:srgbClr val="FF0000"/>
                </a:solidFill>
              </a:rPr>
              <a:t>내용 확인 후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  <a:r>
              <a:rPr lang="ko-KR" altLang="en-US" dirty="0">
                <a:solidFill>
                  <a:srgbClr val="FF0000"/>
                </a:solidFill>
              </a:rPr>
              <a:t>본 가이드 박스는 삭제한 후 </a:t>
            </a:r>
            <a:r>
              <a:rPr lang="en-US" altLang="ko-KR" dirty="0">
                <a:solidFill>
                  <a:srgbClr val="FF0000"/>
                </a:solidFill>
              </a:rPr>
              <a:t>PPT </a:t>
            </a:r>
            <a:r>
              <a:rPr lang="ko-KR" altLang="en-US" dirty="0" smtClean="0">
                <a:solidFill>
                  <a:srgbClr val="FF0000"/>
                </a:solidFill>
              </a:rPr>
              <a:t>작성</a:t>
            </a:r>
            <a:endParaRPr lang="en-US" altLang="ko-KR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19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4567" y="1101012"/>
            <a:ext cx="4770658" cy="307777"/>
          </a:xfrm>
          <a:prstGeom prst="rect">
            <a:avLst/>
          </a:prstGeom>
          <a:solidFill>
            <a:srgbClr val="FF6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chemeClr val="bg1"/>
                </a:solidFill>
              </a:rPr>
              <a:t>서비스 개발에 활용한 한국관광공사 </a:t>
            </a:r>
            <a:r>
              <a:rPr lang="en-US" altLang="ko-KR" sz="1400" b="1" dirty="0" smtClean="0">
                <a:solidFill>
                  <a:schemeClr val="bg1"/>
                </a:solidFill>
              </a:rPr>
              <a:t>OpenAPI </a:t>
            </a:r>
            <a:r>
              <a:rPr lang="ko-KR" altLang="en-US" sz="1400" b="1" dirty="0" smtClean="0">
                <a:solidFill>
                  <a:schemeClr val="bg1"/>
                </a:solidFill>
              </a:rPr>
              <a:t>리스트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6638178"/>
              </p:ext>
            </p:extLst>
          </p:nvPr>
        </p:nvGraphicFramePr>
        <p:xfrm>
          <a:off x="174566" y="1646098"/>
          <a:ext cx="11628657" cy="3789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1150">
                  <a:extLst>
                    <a:ext uri="{9D8B030D-6E8A-4147-A177-3AD203B41FA5}">
                      <a16:colId xmlns:a16="http://schemas.microsoft.com/office/drawing/2014/main" val="842166946"/>
                    </a:ext>
                  </a:extLst>
                </a:gridCol>
                <a:gridCol w="1816388">
                  <a:extLst>
                    <a:ext uri="{9D8B030D-6E8A-4147-A177-3AD203B41FA5}">
                      <a16:colId xmlns:a16="http://schemas.microsoft.com/office/drawing/2014/main" val="3903607114"/>
                    </a:ext>
                  </a:extLst>
                </a:gridCol>
                <a:gridCol w="8991119">
                  <a:extLst>
                    <a:ext uri="{9D8B030D-6E8A-4147-A177-3AD203B41FA5}">
                      <a16:colId xmlns:a16="http://schemas.microsoft.com/office/drawing/2014/main" val="2519424337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 smtClean="0">
                          <a:solidFill>
                            <a:schemeClr val="bg1"/>
                          </a:solidFill>
                        </a:rPr>
                        <a:t>API</a:t>
                      </a:r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명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 smtClean="0">
                          <a:solidFill>
                            <a:srgbClr val="FF0000"/>
                          </a:solidFill>
                        </a:rPr>
                        <a:t>※</a:t>
                      </a:r>
                      <a:r>
                        <a:rPr lang="ko-KR" altLang="en-US" b="0" dirty="0" smtClean="0">
                          <a:solidFill>
                            <a:srgbClr val="FF0000"/>
                          </a:solidFill>
                        </a:rPr>
                        <a:t>본 가이드 문구 삭제 후 내용 작성 </a:t>
                      </a:r>
                      <a:r>
                        <a:rPr lang="en-US" altLang="ko-KR" b="0" dirty="0" smtClean="0">
                          <a:solidFill>
                            <a:schemeClr val="tx1"/>
                          </a:solidFill>
                        </a:rPr>
                        <a:t>ex) </a:t>
                      </a:r>
                      <a:r>
                        <a:rPr lang="ko-KR" altLang="en-US" b="0" dirty="0" smtClean="0">
                          <a:solidFill>
                            <a:schemeClr val="tx1"/>
                          </a:solidFill>
                        </a:rPr>
                        <a:t>한국관광공사 국문 관광정보 서비스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772088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상세설명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 smtClean="0">
                          <a:solidFill>
                            <a:srgbClr val="FF0000"/>
                          </a:solidFill>
                        </a:rPr>
                        <a:t>※</a:t>
                      </a:r>
                      <a:r>
                        <a:rPr lang="ko-KR" altLang="en-US" b="0" dirty="0" smtClean="0">
                          <a:solidFill>
                            <a:srgbClr val="FF0000"/>
                          </a:solidFill>
                        </a:rPr>
                        <a:t>본 가이드 문구 삭제 후 내용 작성 </a:t>
                      </a:r>
                      <a:r>
                        <a:rPr lang="en-US" altLang="ko-KR" b="0" dirty="0" smtClean="0">
                          <a:solidFill>
                            <a:schemeClr val="tx1"/>
                          </a:solidFill>
                        </a:rPr>
                        <a:t>ex) </a:t>
                      </a:r>
                      <a:r>
                        <a:rPr lang="ko-KR" altLang="en-US" b="0" dirty="0" smtClean="0">
                          <a:solidFill>
                            <a:schemeClr val="tx1"/>
                          </a:solidFill>
                        </a:rPr>
                        <a:t>사용자 맞춤 관광지 정보 제공 시</a:t>
                      </a:r>
                      <a:r>
                        <a:rPr lang="en-US" altLang="ko-KR" b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b="0" dirty="0" smtClean="0">
                          <a:solidFill>
                            <a:schemeClr val="tx1"/>
                          </a:solidFill>
                        </a:rPr>
                        <a:t>활용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522436"/>
                  </a:ext>
                </a:extLst>
              </a:tr>
              <a:tr h="3810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 smtClean="0">
                          <a:solidFill>
                            <a:schemeClr val="bg1"/>
                          </a:solidFill>
                        </a:rPr>
                        <a:t>API</a:t>
                      </a:r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명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8026807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상세설명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851369"/>
                  </a:ext>
                </a:extLst>
              </a:tr>
              <a:tr h="3810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 smtClean="0">
                          <a:solidFill>
                            <a:schemeClr val="bg1"/>
                          </a:solidFill>
                        </a:rPr>
                        <a:t>API</a:t>
                      </a:r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명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7554315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3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상세설명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0228473"/>
                  </a:ext>
                </a:extLst>
              </a:tr>
              <a:tr h="3810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 smtClean="0">
                          <a:solidFill>
                            <a:schemeClr val="bg1"/>
                          </a:solidFill>
                        </a:rPr>
                        <a:t>API</a:t>
                      </a:r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명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9229970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3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상세설명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7204627"/>
                  </a:ext>
                </a:extLst>
              </a:tr>
              <a:tr h="3810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 smtClean="0">
                          <a:solidFill>
                            <a:schemeClr val="bg1"/>
                          </a:solidFill>
                        </a:rPr>
                        <a:t>API</a:t>
                      </a:r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명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013552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상세설명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36885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2947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4567" y="1101012"/>
            <a:ext cx="3893580" cy="307777"/>
          </a:xfrm>
          <a:prstGeom prst="rect">
            <a:avLst/>
          </a:prstGeom>
          <a:solidFill>
            <a:srgbClr val="FF6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chemeClr val="bg1"/>
                </a:solidFill>
              </a:rPr>
              <a:t>서비스 개발에 활용한 기타 </a:t>
            </a:r>
            <a:r>
              <a:rPr lang="en-US" altLang="ko-KR" sz="1400" b="1" dirty="0" smtClean="0">
                <a:solidFill>
                  <a:schemeClr val="bg1"/>
                </a:solidFill>
              </a:rPr>
              <a:t>API, </a:t>
            </a:r>
            <a:r>
              <a:rPr lang="ko-KR" altLang="en-US" sz="1400" b="1" dirty="0" err="1" smtClean="0">
                <a:solidFill>
                  <a:schemeClr val="bg1"/>
                </a:solidFill>
              </a:rPr>
              <a:t>파일데이터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0626099"/>
              </p:ext>
            </p:extLst>
          </p:nvPr>
        </p:nvGraphicFramePr>
        <p:xfrm>
          <a:off x="174566" y="1646098"/>
          <a:ext cx="11628657" cy="2265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1150">
                  <a:extLst>
                    <a:ext uri="{9D8B030D-6E8A-4147-A177-3AD203B41FA5}">
                      <a16:colId xmlns:a16="http://schemas.microsoft.com/office/drawing/2014/main" val="842166946"/>
                    </a:ext>
                  </a:extLst>
                </a:gridCol>
                <a:gridCol w="1816388">
                  <a:extLst>
                    <a:ext uri="{9D8B030D-6E8A-4147-A177-3AD203B41FA5}">
                      <a16:colId xmlns:a16="http://schemas.microsoft.com/office/drawing/2014/main" val="3903607114"/>
                    </a:ext>
                  </a:extLst>
                </a:gridCol>
                <a:gridCol w="8991119">
                  <a:extLst>
                    <a:ext uri="{9D8B030D-6E8A-4147-A177-3AD203B41FA5}">
                      <a16:colId xmlns:a16="http://schemas.microsoft.com/office/drawing/2014/main" val="2519424337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err="1" smtClean="0">
                          <a:solidFill>
                            <a:schemeClr val="bg1"/>
                          </a:solidFill>
                        </a:rPr>
                        <a:t>데이터명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772088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상세설명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522436"/>
                  </a:ext>
                </a:extLst>
              </a:tr>
              <a:tr h="3810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err="1" smtClean="0">
                          <a:solidFill>
                            <a:schemeClr val="bg1"/>
                          </a:solidFill>
                        </a:rPr>
                        <a:t>데이터명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8026807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상세설명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851369"/>
                  </a:ext>
                </a:extLst>
              </a:tr>
              <a:tr h="3810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err="1" smtClean="0">
                          <a:solidFill>
                            <a:schemeClr val="bg1"/>
                          </a:solidFill>
                        </a:rPr>
                        <a:t>데이터명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7554315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3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상세설명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0228473"/>
                  </a:ext>
                </a:extLst>
              </a:tr>
            </a:tbl>
          </a:graphicData>
        </a:graphic>
      </p:graphicFrame>
      <p:sp>
        <p:nvSpPr>
          <p:cNvPr id="6" name="직사각형 5"/>
          <p:cNvSpPr/>
          <p:nvPr/>
        </p:nvSpPr>
        <p:spPr>
          <a:xfrm>
            <a:off x="174567" y="2402379"/>
            <a:ext cx="11853949" cy="2335876"/>
          </a:xfrm>
          <a:prstGeom prst="rect">
            <a:avLst/>
          </a:prstGeom>
          <a:solidFill>
            <a:schemeClr val="tx1">
              <a:alpha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[</a:t>
            </a:r>
            <a:r>
              <a:rPr lang="ko-KR" altLang="en-US" dirty="0" smtClean="0"/>
              <a:t>선택 작성 항목</a:t>
            </a:r>
            <a:r>
              <a:rPr lang="en-US" altLang="ko-KR" dirty="0" smtClean="0"/>
              <a:t>] </a:t>
            </a:r>
            <a:r>
              <a:rPr lang="ko-KR" altLang="en-US" dirty="0" smtClean="0"/>
              <a:t>해당사항 없는 경우</a:t>
            </a:r>
            <a:r>
              <a:rPr lang="en-US" altLang="ko-KR" dirty="0" smtClean="0"/>
              <a:t>, </a:t>
            </a:r>
            <a:r>
              <a:rPr lang="ko-KR" altLang="en-US" dirty="0" smtClean="0"/>
              <a:t>해당 슬라이드 삭제</a:t>
            </a:r>
            <a:endParaRPr lang="en-US" altLang="ko-KR" dirty="0" smtClean="0"/>
          </a:p>
          <a:p>
            <a:pPr algn="ctr"/>
            <a:endParaRPr lang="en-US" altLang="ko-KR" dirty="0"/>
          </a:p>
          <a:p>
            <a:pPr algn="ctr"/>
            <a:r>
              <a:rPr lang="en-US" altLang="ko-KR" dirty="0">
                <a:solidFill>
                  <a:srgbClr val="FF0000"/>
                </a:solidFill>
              </a:rPr>
              <a:t>※ </a:t>
            </a:r>
            <a:r>
              <a:rPr lang="ko-KR" altLang="en-US" dirty="0">
                <a:solidFill>
                  <a:srgbClr val="FF0000"/>
                </a:solidFill>
              </a:rPr>
              <a:t>내용 확인 후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  <a:r>
              <a:rPr lang="ko-KR" altLang="en-US" dirty="0">
                <a:solidFill>
                  <a:srgbClr val="FF0000"/>
                </a:solidFill>
              </a:rPr>
              <a:t>본 가이드 박스는 삭제한 후 </a:t>
            </a:r>
            <a:r>
              <a:rPr lang="en-US" altLang="ko-KR" dirty="0">
                <a:solidFill>
                  <a:srgbClr val="FF0000"/>
                </a:solidFill>
              </a:rPr>
              <a:t>PPT </a:t>
            </a:r>
            <a:r>
              <a:rPr lang="ko-KR" altLang="en-US" dirty="0" smtClean="0">
                <a:solidFill>
                  <a:srgbClr val="FF0000"/>
                </a:solidFill>
              </a:rPr>
              <a:t>작성</a:t>
            </a:r>
            <a:endParaRPr lang="en-US" altLang="ko-KR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7356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8382877"/>
              </p:ext>
            </p:extLst>
          </p:nvPr>
        </p:nvGraphicFramePr>
        <p:xfrm>
          <a:off x="287250" y="1218429"/>
          <a:ext cx="11649825" cy="50743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5222">
                  <a:extLst>
                    <a:ext uri="{9D8B030D-6E8A-4147-A177-3AD203B41FA5}">
                      <a16:colId xmlns:a16="http://schemas.microsoft.com/office/drawing/2014/main" val="1299753452"/>
                    </a:ext>
                  </a:extLst>
                </a:gridCol>
                <a:gridCol w="9694603">
                  <a:extLst>
                    <a:ext uri="{9D8B030D-6E8A-4147-A177-3AD203B41FA5}">
                      <a16:colId xmlns:a16="http://schemas.microsoft.com/office/drawing/2014/main" val="3999346814"/>
                    </a:ext>
                  </a:extLst>
                </a:gridCol>
              </a:tblGrid>
              <a:tr h="246607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차별성</a:t>
                      </a:r>
                      <a:endParaRPr lang="en-US" altLang="ko-KR" b="1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800" b="0" dirty="0" smtClean="0">
                          <a:solidFill>
                            <a:srgbClr val="FF0000"/>
                          </a:solidFill>
                          <a:latin typeface="+mn-lt"/>
                        </a:rPr>
                        <a:t>※ </a:t>
                      </a:r>
                      <a:r>
                        <a:rPr lang="ko-KR" altLang="en-US" sz="1800" b="0" dirty="0" smtClean="0">
                          <a:solidFill>
                            <a:srgbClr val="FF0000"/>
                          </a:solidFill>
                          <a:latin typeface="+mn-lt"/>
                        </a:rPr>
                        <a:t>본 가이드 문구 삭제 후 내용 작성</a:t>
                      </a:r>
                      <a:endParaRPr lang="en-US" altLang="ko-KR" sz="1800" b="0" dirty="0" smtClean="0">
                        <a:solidFill>
                          <a:srgbClr val="FF0000"/>
                        </a:solidFill>
                        <a:latin typeface="+mn-lt"/>
                      </a:endParaRPr>
                    </a:p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개발 서비스만의 특징</a:t>
                      </a:r>
                      <a:r>
                        <a:rPr lang="en-US" altLang="ko-KR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, </a:t>
                      </a:r>
                      <a:r>
                        <a:rPr lang="ko-KR" altLang="en-US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타 서비스와의 차별점</a:t>
                      </a:r>
                      <a:r>
                        <a:rPr lang="en-US" altLang="ko-KR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/</a:t>
                      </a:r>
                      <a:r>
                        <a:rPr lang="ko-KR" altLang="en-US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독창성 작성</a:t>
                      </a:r>
                      <a:endParaRPr lang="ko-KR" altLang="en-US" sz="1800" dirty="0" smtClean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409156"/>
                  </a:ext>
                </a:extLst>
              </a:tr>
              <a:tr h="260823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발전계획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 smtClean="0">
                          <a:solidFill>
                            <a:srgbClr val="FF0000"/>
                          </a:solidFill>
                          <a:latin typeface="+mn-lt"/>
                        </a:rPr>
                        <a:t>※ </a:t>
                      </a:r>
                      <a:r>
                        <a:rPr lang="ko-KR" altLang="en-US" sz="1800" dirty="0" smtClean="0">
                          <a:solidFill>
                            <a:srgbClr val="FF0000"/>
                          </a:solidFill>
                          <a:latin typeface="+mn-lt"/>
                        </a:rPr>
                        <a:t>본 가이드 문구 삭제 후 내용 작성</a:t>
                      </a:r>
                    </a:p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baseline="0" dirty="0" smtClean="0">
                          <a:latin typeface="+mn-lt"/>
                        </a:rPr>
                        <a:t>개발 서비스의 향후 발전 계획에 대해 작성</a:t>
                      </a:r>
                      <a:endParaRPr lang="ko-KR" altLang="en-US" sz="1800" dirty="0" smtClean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4121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8568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408</TotalTime>
  <Words>549</Words>
  <Application>Microsoft Office PowerPoint</Application>
  <PresentationFormat>와이드스크린</PresentationFormat>
  <Paragraphs>95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Noto Sans KR Medium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KTO</dc:creator>
  <cp:lastModifiedBy>USER</cp:lastModifiedBy>
  <cp:revision>64</cp:revision>
  <dcterms:created xsi:type="dcterms:W3CDTF">2026-07-07T05:25:59Z</dcterms:created>
  <dcterms:modified xsi:type="dcterms:W3CDTF">2026-07-29T05:45:18Z</dcterms:modified>
</cp:coreProperties>
</file>